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ruthi Sumadhur Ghosh" initials="SG" lastIdx="7" clrIdx="0">
    <p:extLst>
      <p:ext uri="{19B8F6BF-5375-455C-9EA6-DF929625EA0E}">
        <p15:presenceInfo xmlns:p15="http://schemas.microsoft.com/office/powerpoint/2012/main" userId="6cdd32accb22a91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%20Projects\Bike%20Dekho\Cleaned%20Data%20Bike%20dekh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%20Projects\Bike%20Dekho\Cleaned%20Data%20Bike%20dekh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%20Projects\Bike%20Dekho\Cleaned%20Data%20Bike%20dekh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%20Projects\Bike%20Dekho\Cleaned%20Data%20Bike%20dekh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%20Projects\Bike%20Dekho\Cleaned%20Data%20Bike%20dekho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%20Projects\Bike%20Dekho\Cleaned%20Data%20Bike%20dekho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%20Projects\Bike%20Dekho\Cleaned%20Data%20Bike%20dekho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%20Projects\Bike%20Dekho\Cleaned%20Data%20Bike%20dekho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Bike dekho.xlsx]Pivot tables &amp; Charts!PivotTable1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100" b="1" i="0" u="none" strike="noStrike" baseline="0"/>
              <a:t>Bike Purchases by Region (Filtered to Purchasers Only)</a:t>
            </a:r>
            <a:endParaRPr lang="en-IN" sz="11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&amp; Charts'!$B$7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Charts'!$A$8:$A$11</c:f>
              <c:strCache>
                <c:ptCount val="3"/>
                <c:pt idx="0">
                  <c:v>North America</c:v>
                </c:pt>
                <c:pt idx="1">
                  <c:v>Europe</c:v>
                </c:pt>
                <c:pt idx="2">
                  <c:v>Pacific</c:v>
                </c:pt>
              </c:strCache>
            </c:strRef>
          </c:cat>
          <c:val>
            <c:numRef>
              <c:f>'Pivot tables &amp; Charts'!$B$8:$B$11</c:f>
              <c:numCache>
                <c:formatCode>0</c:formatCode>
                <c:ptCount val="3"/>
                <c:pt idx="0">
                  <c:v>220</c:v>
                </c:pt>
                <c:pt idx="1">
                  <c:v>156</c:v>
                </c:pt>
                <c:pt idx="2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72-4833-A88C-2030F6A1C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561134463"/>
        <c:axId val="1561133503"/>
      </c:barChart>
      <c:catAx>
        <c:axId val="15611344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Region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1133503"/>
        <c:crosses val="autoZero"/>
        <c:auto val="1"/>
        <c:lblAlgn val="ctr"/>
        <c:lblOffset val="100"/>
        <c:noMultiLvlLbl val="0"/>
      </c:catAx>
      <c:valAx>
        <c:axId val="1561133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Customer Count of Purchasers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2.1917808219178082E-2"/>
              <c:y val="0.2040130560603001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1134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Bike dekho.xlsx]Pivot tables &amp; Charts!Bike Purchase Rate by Income Group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  <a:p>
            <a:pPr>
              <a:defRPr/>
            </a:pPr>
            <a:r>
              <a:rPr lang="en-IN" sz="1100" b="1">
                <a:latin typeface="+mn-lt"/>
              </a:rPr>
              <a:t>Bike Purchase Rate by Income Category</a:t>
            </a:r>
          </a:p>
        </c:rich>
      </c:tx>
      <c:layout>
        <c:manualLayout>
          <c:xMode val="edge"/>
          <c:yMode val="edge"/>
          <c:x val="0.1941491140508842"/>
          <c:y val="2.282283775301567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'Pivot tables &amp; Charts'!$C$27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Charts'!$A$28:$A$31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Mid</c:v>
                </c:pt>
              </c:strCache>
            </c:strRef>
          </c:cat>
          <c:val>
            <c:numRef>
              <c:f>'Pivot tables &amp; Charts'!$C$28:$C$31</c:f>
              <c:numCache>
                <c:formatCode>General</c:formatCode>
                <c:ptCount val="3"/>
                <c:pt idx="0">
                  <c:v>359</c:v>
                </c:pt>
                <c:pt idx="1">
                  <c:v>282</c:v>
                </c:pt>
                <c:pt idx="2">
                  <c:v>359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22-4754-B2DD-DF0236A05A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897059088"/>
        <c:axId val="897059568"/>
      </c:barChart>
      <c:lineChart>
        <c:grouping val="standard"/>
        <c:varyColors val="0"/>
        <c:ser>
          <c:idx val="0"/>
          <c:order val="0"/>
          <c:tx>
            <c:strRef>
              <c:f>'Pivot tables &amp; Charts'!$B$27</c:f>
              <c:strCache>
                <c:ptCount val="1"/>
                <c:pt idx="0">
                  <c:v>Purchased 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Charts'!$A$28:$A$31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Mid</c:v>
                </c:pt>
              </c:strCache>
            </c:strRef>
          </c:cat>
          <c:val>
            <c:numRef>
              <c:f>'Pivot tables &amp; Charts'!$B$28:$B$31</c:f>
              <c:numCache>
                <c:formatCode>0%</c:formatCode>
                <c:ptCount val="3"/>
                <c:pt idx="0">
                  <c:v>0.49303621169916434</c:v>
                </c:pt>
                <c:pt idx="1">
                  <c:v>0.40070921985815605</c:v>
                </c:pt>
                <c:pt idx="2">
                  <c:v>0.53203342618384397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22-4754-B2DD-DF0236A05A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02468880"/>
        <c:axId val="302467920"/>
      </c:lineChart>
      <c:catAx>
        <c:axId val="8970590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Income 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7059568"/>
        <c:crosses val="autoZero"/>
        <c:auto val="1"/>
        <c:lblAlgn val="ctr"/>
        <c:lblOffset val="100"/>
        <c:noMultiLvlLbl val="0"/>
      </c:catAx>
      <c:valAx>
        <c:axId val="897059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Customer Count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1.0745466756212223E-2"/>
              <c:y val="0.397498478780117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7059088"/>
        <c:crosses val="autoZero"/>
        <c:crossBetween val="between"/>
      </c:valAx>
      <c:valAx>
        <c:axId val="30246792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Purchase %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0.68467364346414383"/>
              <c:y val="0.4296422635751845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468880"/>
        <c:crosses val="max"/>
        <c:crossBetween val="between"/>
      </c:valAx>
      <c:catAx>
        <c:axId val="302468880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467920"/>
        <c:crosses val="max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Bike dekho.xlsx]Pivot tables &amp; Charts!PivotTable3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1" i="0" u="none" strike="noStrike" baseline="0"/>
              <a:t>Gender vs Bike Purchase Rate</a:t>
            </a:r>
            <a:endParaRPr lang="en-IN" sz="1100" b="1"/>
          </a:p>
        </c:rich>
      </c:tx>
      <c:layout>
        <c:manualLayout>
          <c:xMode val="edge"/>
          <c:yMode val="edge"/>
          <c:x val="0.13662940981735017"/>
          <c:y val="3.95396097839205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&amp; Charts'!$B$51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Charts'!$A$52:$A$54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'Pivot tables &amp; Charts'!$B$52:$B$54</c:f>
              <c:numCache>
                <c:formatCode>General</c:formatCode>
                <c:ptCount val="2"/>
                <c:pt idx="0">
                  <c:v>489</c:v>
                </c:pt>
                <c:pt idx="1">
                  <c:v>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9-462B-A166-F8990882C4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893856592"/>
        <c:axId val="893860912"/>
      </c:barChart>
      <c:lineChart>
        <c:grouping val="standard"/>
        <c:varyColors val="0"/>
        <c:ser>
          <c:idx val="1"/>
          <c:order val="1"/>
          <c:tx>
            <c:strRef>
              <c:f>'Pivot tables &amp; Charts'!$C$51</c:f>
              <c:strCache>
                <c:ptCount val="1"/>
                <c:pt idx="0">
                  <c:v>Purchase rate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Charts'!$A$52:$A$54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'Pivot tables &amp; Charts'!$C$52:$C$54</c:f>
              <c:numCache>
                <c:formatCode>0%</c:formatCode>
                <c:ptCount val="2"/>
                <c:pt idx="0">
                  <c:v>0.4887525562372188</c:v>
                </c:pt>
                <c:pt idx="1">
                  <c:v>0.47358121330724068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29-462B-A166-F8990882C4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7043728"/>
        <c:axId val="897042768"/>
      </c:lineChart>
      <c:catAx>
        <c:axId val="893856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Gender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860912"/>
        <c:crosses val="autoZero"/>
        <c:auto val="1"/>
        <c:lblAlgn val="ctr"/>
        <c:lblOffset val="100"/>
        <c:noMultiLvlLbl val="0"/>
      </c:catAx>
      <c:valAx>
        <c:axId val="8938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Customer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856592"/>
        <c:crosses val="autoZero"/>
        <c:crossBetween val="between"/>
      </c:valAx>
      <c:valAx>
        <c:axId val="897042768"/>
        <c:scaling>
          <c:orientation val="minMax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Purchase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7043728"/>
        <c:crosses val="max"/>
        <c:crossBetween val="between"/>
      </c:valAx>
      <c:catAx>
        <c:axId val="897043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970427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Bike dekho.xlsx]Pivot tables &amp; Charts!PivotTable4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1" i="0" u="none" strike="noStrike" baseline="0"/>
              <a:t>Marital Status vs Bike Purchase Rate</a:t>
            </a:r>
            <a:endParaRPr lang="en-IN" sz="1100" b="1"/>
          </a:p>
        </c:rich>
      </c:tx>
      <c:layout>
        <c:manualLayout>
          <c:xMode val="edge"/>
          <c:yMode val="edge"/>
          <c:x val="0.17350115531146715"/>
          <c:y val="2.94792708922434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&amp; Charts'!$B$74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Charts'!$A$75:$A$77</c:f>
              <c:strCache>
                <c:ptCount val="2"/>
                <c:pt idx="0">
                  <c:v>M</c:v>
                </c:pt>
                <c:pt idx="1">
                  <c:v>S</c:v>
                </c:pt>
              </c:strCache>
            </c:strRef>
          </c:cat>
          <c:val>
            <c:numRef>
              <c:f>'Pivot tables &amp; Charts'!$B$75:$B$77</c:f>
              <c:numCache>
                <c:formatCode>General</c:formatCode>
                <c:ptCount val="2"/>
                <c:pt idx="0">
                  <c:v>538</c:v>
                </c:pt>
                <c:pt idx="1">
                  <c:v>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3D-45B8-8B78-32B8C84CD6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02442480"/>
        <c:axId val="302461200"/>
      </c:barChart>
      <c:lineChart>
        <c:grouping val="standard"/>
        <c:varyColors val="0"/>
        <c:ser>
          <c:idx val="1"/>
          <c:order val="1"/>
          <c:tx>
            <c:strRef>
              <c:f>'Pivot tables &amp; Charts'!$C$74</c:f>
              <c:strCache>
                <c:ptCount val="1"/>
                <c:pt idx="0">
                  <c:v>Purchase Rate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Charts'!$A$75:$A$77</c:f>
              <c:strCache>
                <c:ptCount val="2"/>
                <c:pt idx="0">
                  <c:v>M</c:v>
                </c:pt>
                <c:pt idx="1">
                  <c:v>S</c:v>
                </c:pt>
              </c:strCache>
            </c:strRef>
          </c:cat>
          <c:val>
            <c:numRef>
              <c:f>'Pivot tables &amp; Charts'!$C$75:$C$77</c:f>
              <c:numCache>
                <c:formatCode>0%</c:formatCode>
                <c:ptCount val="2"/>
                <c:pt idx="0">
                  <c:v>0.42936802973977695</c:v>
                </c:pt>
                <c:pt idx="1">
                  <c:v>0.54112554112554112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3D-45B8-8B78-32B8C84CD6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02463600"/>
        <c:axId val="302462640"/>
      </c:lineChart>
      <c:catAx>
        <c:axId val="302442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Marital Status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461200"/>
        <c:crosses val="autoZero"/>
        <c:auto val="1"/>
        <c:lblAlgn val="ctr"/>
        <c:lblOffset val="100"/>
        <c:noMultiLvlLbl val="0"/>
      </c:catAx>
      <c:valAx>
        <c:axId val="302461200"/>
        <c:scaling>
          <c:orientation val="minMax"/>
          <c:max val="0.6000000000000000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Customer Count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442480"/>
        <c:crosses val="autoZero"/>
        <c:crossBetween val="between"/>
      </c:valAx>
      <c:valAx>
        <c:axId val="30246264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Purchase Rate</a:t>
                </a:r>
                <a:r>
                  <a:rPr lang="en-IN"/>
                  <a:t>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463600"/>
        <c:crosses val="max"/>
        <c:crossBetween val="between"/>
      </c:valAx>
      <c:catAx>
        <c:axId val="302463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024626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Bike dekho.xlsx]Pivot tables &amp; Charts!PivotTable5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1"/>
              <a:t>Education Level vs Bike Purchase Rate</a:t>
            </a:r>
            <a:endParaRPr lang="en-IN" sz="1100"/>
          </a:p>
        </c:rich>
      </c:tx>
      <c:layout>
        <c:manualLayout>
          <c:xMode val="edge"/>
          <c:yMode val="edge"/>
          <c:x val="0.13415957137587017"/>
          <c:y val="4.0368831670949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&amp; Charts'!$B$94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Charts'!$A$95:$A$98</c:f>
              <c:strCache>
                <c:ptCount val="3"/>
                <c:pt idx="0">
                  <c:v>Basic</c:v>
                </c:pt>
                <c:pt idx="1">
                  <c:v>Higher</c:v>
                </c:pt>
                <c:pt idx="2">
                  <c:v>Intermediate</c:v>
                </c:pt>
              </c:strCache>
            </c:strRef>
          </c:cat>
          <c:val>
            <c:numRef>
              <c:f>'Pivot tables &amp; Charts'!$B$95:$B$98</c:f>
              <c:numCache>
                <c:formatCode>General</c:formatCode>
                <c:ptCount val="3"/>
                <c:pt idx="0">
                  <c:v>179</c:v>
                </c:pt>
                <c:pt idx="1">
                  <c:v>515</c:v>
                </c:pt>
                <c:pt idx="2">
                  <c:v>306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F-4F7A-81C3-D2AD3A60C8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893872432"/>
        <c:axId val="893871952"/>
      </c:barChart>
      <c:lineChart>
        <c:grouping val="standard"/>
        <c:varyColors val="0"/>
        <c:ser>
          <c:idx val="1"/>
          <c:order val="1"/>
          <c:tx>
            <c:strRef>
              <c:f>'Pivot tables &amp; Charts'!$C$94</c:f>
              <c:strCache>
                <c:ptCount val="1"/>
                <c:pt idx="0">
                  <c:v>Purchase Rate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Charts'!$A$95:$A$98</c:f>
              <c:strCache>
                <c:ptCount val="3"/>
                <c:pt idx="0">
                  <c:v>Basic</c:v>
                </c:pt>
                <c:pt idx="1">
                  <c:v>Higher</c:v>
                </c:pt>
                <c:pt idx="2">
                  <c:v>Intermediate</c:v>
                </c:pt>
              </c:strCache>
            </c:strRef>
          </c:cat>
          <c:val>
            <c:numRef>
              <c:f>'Pivot tables &amp; Charts'!$C$95:$C$98</c:f>
              <c:numCache>
                <c:formatCode>0%</c:formatCode>
                <c:ptCount val="3"/>
                <c:pt idx="0">
                  <c:v>0.44134078212290501</c:v>
                </c:pt>
                <c:pt idx="1">
                  <c:v>0.45242718446601943</c:v>
                </c:pt>
                <c:pt idx="2">
                  <c:v>0.55228758169934644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BF-4F7A-81C3-D2AD3A60C8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3874352"/>
        <c:axId val="893870992"/>
      </c:lineChart>
      <c:catAx>
        <c:axId val="8938724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Education Level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871952"/>
        <c:crosses val="autoZero"/>
        <c:auto val="1"/>
        <c:lblAlgn val="ctr"/>
        <c:lblOffset val="100"/>
        <c:noMultiLvlLbl val="0"/>
      </c:catAx>
      <c:valAx>
        <c:axId val="89387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Customer Count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872432"/>
        <c:crosses val="autoZero"/>
        <c:crossBetween val="between"/>
      </c:valAx>
      <c:valAx>
        <c:axId val="89387099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 </a:t>
                </a:r>
                <a:r>
                  <a:rPr lang="en-IN" sz="1000" b="0" i="0" u="none" strike="noStrike" baseline="0"/>
                  <a:t>Purchase Rate %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874352"/>
        <c:crosses val="max"/>
        <c:crossBetween val="between"/>
      </c:valAx>
      <c:catAx>
        <c:axId val="8938743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38709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Bike dekho.xlsx]Pivot tables &amp; Charts!PivotTable6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1" i="0" u="none" strike="noStrike" baseline="0" dirty="0"/>
              <a:t>Occupation vs Bike Purchase Rate</a:t>
            </a:r>
            <a:endParaRPr lang="en-IN" sz="1100" b="1" dirty="0"/>
          </a:p>
        </c:rich>
      </c:tx>
      <c:layout>
        <c:manualLayout>
          <c:xMode val="edge"/>
          <c:yMode val="edge"/>
          <c:x val="0.14620334192648199"/>
          <c:y val="4.16819408879407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&amp; Charts'!$B$139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Charts'!$A$140:$A$145</c:f>
              <c:strCache>
                <c:ptCount val="5"/>
                <c:pt idx="0">
                  <c:v>Clerical</c:v>
                </c:pt>
                <c:pt idx="1">
                  <c:v>Management</c:v>
                </c:pt>
                <c:pt idx="2">
                  <c:v>Manual</c:v>
                </c:pt>
                <c:pt idx="3">
                  <c:v>Professional</c:v>
                </c:pt>
                <c:pt idx="4">
                  <c:v>Skilled Manual</c:v>
                </c:pt>
              </c:strCache>
            </c:strRef>
          </c:cat>
          <c:val>
            <c:numRef>
              <c:f>'Pivot tables &amp; Charts'!$B$140:$B$145</c:f>
              <c:numCache>
                <c:formatCode>General</c:formatCode>
                <c:ptCount val="5"/>
                <c:pt idx="0">
                  <c:v>177</c:v>
                </c:pt>
                <c:pt idx="1">
                  <c:v>173</c:v>
                </c:pt>
                <c:pt idx="2">
                  <c:v>119</c:v>
                </c:pt>
                <c:pt idx="3">
                  <c:v>276</c:v>
                </c:pt>
                <c:pt idx="4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F9-4DF8-BBF3-333737CB8E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68966816"/>
        <c:axId val="768971136"/>
      </c:barChart>
      <c:lineChart>
        <c:grouping val="standard"/>
        <c:varyColors val="0"/>
        <c:ser>
          <c:idx val="1"/>
          <c:order val="1"/>
          <c:tx>
            <c:strRef>
              <c:f>'Pivot tables &amp; Charts'!$C$139</c:f>
              <c:strCache>
                <c:ptCount val="1"/>
                <c:pt idx="0">
                  <c:v>Purchase Rate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Charts'!$A$140:$A$145</c:f>
              <c:strCache>
                <c:ptCount val="5"/>
                <c:pt idx="0">
                  <c:v>Clerical</c:v>
                </c:pt>
                <c:pt idx="1">
                  <c:v>Management</c:v>
                </c:pt>
                <c:pt idx="2">
                  <c:v>Manual</c:v>
                </c:pt>
                <c:pt idx="3">
                  <c:v>Professional</c:v>
                </c:pt>
                <c:pt idx="4">
                  <c:v>Skilled Manual</c:v>
                </c:pt>
              </c:strCache>
            </c:strRef>
          </c:cat>
          <c:val>
            <c:numRef>
              <c:f>'Pivot tables &amp; Charts'!$C$140:$C$145</c:f>
              <c:numCache>
                <c:formatCode>0%</c:formatCode>
                <c:ptCount val="5"/>
                <c:pt idx="0">
                  <c:v>0.49717514124293788</c:v>
                </c:pt>
                <c:pt idx="1">
                  <c:v>0.42196531791907516</c:v>
                </c:pt>
                <c:pt idx="2">
                  <c:v>0.46218487394957986</c:v>
                </c:pt>
                <c:pt idx="3">
                  <c:v>0.54347826086956519</c:v>
                </c:pt>
                <c:pt idx="4">
                  <c:v>0.45098039215686275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F9-4DF8-BBF3-333737CB8E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68973056"/>
        <c:axId val="768972576"/>
      </c:lineChart>
      <c:catAx>
        <c:axId val="7689668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Occupation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971136"/>
        <c:crosses val="autoZero"/>
        <c:auto val="1"/>
        <c:lblAlgn val="ctr"/>
        <c:lblOffset val="100"/>
        <c:noMultiLvlLbl val="0"/>
      </c:catAx>
      <c:valAx>
        <c:axId val="768971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Customer Count </a:t>
                </a:r>
                <a:endParaRPr lang="en-IN" b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966816"/>
        <c:crosses val="autoZero"/>
        <c:crossBetween val="between"/>
      </c:valAx>
      <c:valAx>
        <c:axId val="76897257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Purchase Rate %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0.66037423447069121"/>
              <c:y val="0.230877442403032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973056"/>
        <c:crosses val="max"/>
        <c:crossBetween val="between"/>
      </c:valAx>
      <c:catAx>
        <c:axId val="7689730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689725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Bike dekho.xlsx]Pivot tables &amp; Charts!PivotTable7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1" i="0" u="none" strike="noStrike" baseline="0"/>
              <a:t>Bike Purchase Rate by Commute Distance</a:t>
            </a:r>
            <a:endParaRPr lang="en-IN" sz="1100" b="1"/>
          </a:p>
        </c:rich>
      </c:tx>
      <c:layout>
        <c:manualLayout>
          <c:xMode val="edge"/>
          <c:yMode val="edge"/>
          <c:x val="0.1360322990845424"/>
          <c:y val="5.09410366680063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&amp; Charts'!$B$161</c:f>
              <c:strCache>
                <c:ptCount val="1"/>
                <c:pt idx="0">
                  <c:v>Customer 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Charts'!$A$162:$A$167</c:f>
              <c:strCache>
                <c:ptCount val="5"/>
                <c:pt idx="0">
                  <c:v>0-1 Miles</c:v>
                </c:pt>
                <c:pt idx="1">
                  <c:v>10+ Miles</c:v>
                </c:pt>
                <c:pt idx="2">
                  <c:v>1-2 Miles</c:v>
                </c:pt>
                <c:pt idx="3">
                  <c:v>2-5 Miles</c:v>
                </c:pt>
                <c:pt idx="4">
                  <c:v>5-10 Miles</c:v>
                </c:pt>
              </c:strCache>
            </c:strRef>
          </c:cat>
          <c:val>
            <c:numRef>
              <c:f>'Pivot tables &amp; Charts'!$B$162:$B$167</c:f>
              <c:numCache>
                <c:formatCode>General</c:formatCode>
                <c:ptCount val="5"/>
                <c:pt idx="0">
                  <c:v>366</c:v>
                </c:pt>
                <c:pt idx="1">
                  <c:v>111</c:v>
                </c:pt>
                <c:pt idx="2">
                  <c:v>169</c:v>
                </c:pt>
                <c:pt idx="3">
                  <c:v>162</c:v>
                </c:pt>
                <c:pt idx="4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27-41E9-956D-92A5BE2CED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6179872"/>
        <c:axId val="416181792"/>
      </c:barChart>
      <c:lineChart>
        <c:grouping val="standard"/>
        <c:varyColors val="0"/>
        <c:ser>
          <c:idx val="1"/>
          <c:order val="1"/>
          <c:tx>
            <c:strRef>
              <c:f>'Pivot tables &amp; Charts'!$C$161</c:f>
              <c:strCache>
                <c:ptCount val="1"/>
                <c:pt idx="0">
                  <c:v>Purchase Rate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Charts'!$A$162:$A$167</c:f>
              <c:strCache>
                <c:ptCount val="5"/>
                <c:pt idx="0">
                  <c:v>0-1 Miles</c:v>
                </c:pt>
                <c:pt idx="1">
                  <c:v>10+ Miles</c:v>
                </c:pt>
                <c:pt idx="2">
                  <c:v>1-2 Miles</c:v>
                </c:pt>
                <c:pt idx="3">
                  <c:v>2-5 Miles</c:v>
                </c:pt>
                <c:pt idx="4">
                  <c:v>5-10 Miles</c:v>
                </c:pt>
              </c:strCache>
            </c:strRef>
          </c:cat>
          <c:val>
            <c:numRef>
              <c:f>'Pivot tables &amp; Charts'!$C$162:$C$167</c:f>
              <c:numCache>
                <c:formatCode>0%</c:formatCode>
                <c:ptCount val="5"/>
                <c:pt idx="0">
                  <c:v>0.54644808743169404</c:v>
                </c:pt>
                <c:pt idx="1">
                  <c:v>0.29729729729729731</c:v>
                </c:pt>
                <c:pt idx="2">
                  <c:v>0.45562130177514792</c:v>
                </c:pt>
                <c:pt idx="3">
                  <c:v>0.5864197530864198</c:v>
                </c:pt>
                <c:pt idx="4">
                  <c:v>0.39583333333333331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27-41E9-956D-92A5BE2CED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16186592"/>
        <c:axId val="416190912"/>
      </c:lineChart>
      <c:catAx>
        <c:axId val="416179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Commute distance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181792"/>
        <c:crosses val="autoZero"/>
        <c:auto val="1"/>
        <c:lblAlgn val="ctr"/>
        <c:lblOffset val="100"/>
        <c:noMultiLvlLbl val="0"/>
      </c:catAx>
      <c:valAx>
        <c:axId val="416181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Customer Count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179872"/>
        <c:crosses val="autoZero"/>
        <c:crossBetween val="between"/>
      </c:valAx>
      <c:valAx>
        <c:axId val="41619091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Purchase Rate (%)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186592"/>
        <c:crosses val="max"/>
        <c:crossBetween val="between"/>
      </c:valAx>
      <c:catAx>
        <c:axId val="4161865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161909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Bike dekho.xlsx]Pivot tables &amp; Charts!PivotTable8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1" i="0" u="none" strike="noStrike" baseline="0" dirty="0"/>
              <a:t>Number of Cars vs Bike Purchase Rate</a:t>
            </a:r>
            <a:endParaRPr lang="en-IN" sz="1100" b="1" dirty="0"/>
          </a:p>
        </c:rich>
      </c:tx>
      <c:layout>
        <c:manualLayout>
          <c:xMode val="edge"/>
          <c:yMode val="edge"/>
          <c:x val="0.1339929663357074"/>
          <c:y val="4.25108635249202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&amp; Charts'!$B$185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Charts'!$A$186:$A$191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'Pivot tables &amp; Charts'!$B$186:$B$191</c:f>
              <c:numCache>
                <c:formatCode>General</c:formatCode>
                <c:ptCount val="5"/>
                <c:pt idx="0">
                  <c:v>247</c:v>
                </c:pt>
                <c:pt idx="1">
                  <c:v>267</c:v>
                </c:pt>
                <c:pt idx="2">
                  <c:v>342</c:v>
                </c:pt>
                <c:pt idx="3">
                  <c:v>85</c:v>
                </c:pt>
                <c:pt idx="4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DE-41C0-9258-E64B37CD7A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6208192"/>
        <c:axId val="416199072"/>
      </c:barChart>
      <c:lineChart>
        <c:grouping val="standard"/>
        <c:varyColors val="0"/>
        <c:ser>
          <c:idx val="1"/>
          <c:order val="1"/>
          <c:tx>
            <c:strRef>
              <c:f>'Pivot tables &amp; Charts'!$C$185</c:f>
              <c:strCache>
                <c:ptCount val="1"/>
                <c:pt idx="0">
                  <c:v>Average of Purchase Binary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&amp; Charts'!$A$186:$A$191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'Pivot tables &amp; Charts'!$C$186:$C$191</c:f>
              <c:numCache>
                <c:formatCode>0%</c:formatCode>
                <c:ptCount val="5"/>
                <c:pt idx="0">
                  <c:v>0.61133603238866396</c:v>
                </c:pt>
                <c:pt idx="1">
                  <c:v>0.56928838951310856</c:v>
                </c:pt>
                <c:pt idx="2">
                  <c:v>0.36257309941520466</c:v>
                </c:pt>
                <c:pt idx="3">
                  <c:v>0.38823529411764707</c:v>
                </c:pt>
                <c:pt idx="4">
                  <c:v>0.3559322033898305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DE-41C0-9258-E64B37CD7A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16200032"/>
        <c:axId val="416207232"/>
      </c:lineChart>
      <c:catAx>
        <c:axId val="416208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Car Count</a:t>
                </a:r>
                <a:r>
                  <a:rPr lang="en-IN" baseline="0"/>
                  <a:t> 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199072"/>
        <c:crosses val="autoZero"/>
        <c:auto val="1"/>
        <c:lblAlgn val="ctr"/>
        <c:lblOffset val="100"/>
        <c:noMultiLvlLbl val="0"/>
      </c:catAx>
      <c:valAx>
        <c:axId val="416199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Customer ID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208192"/>
        <c:crosses val="autoZero"/>
        <c:crossBetween val="between"/>
      </c:valAx>
      <c:valAx>
        <c:axId val="41620723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Purchase Binary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200032"/>
        <c:crosses val="max"/>
        <c:crossBetween val="between"/>
      </c:valAx>
      <c:catAx>
        <c:axId val="4162000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1620723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48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74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93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27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68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504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509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90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70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061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38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EEE7BB5-9D50-4ED9-9D83-E15F79030016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A76C7DC-0F99-41E8-8EDA-1A0980C9FE1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39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3250-CBEB-EE8A-226B-3AF9C5C90D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+mn-lt"/>
              </a:rPr>
              <a:t>Project Title:</a:t>
            </a:r>
            <a:r>
              <a:rPr lang="en-US" sz="4000" dirty="0">
                <a:latin typeface="+mn-lt"/>
              </a:rPr>
              <a:t> Bike Dekho - Bike Sales Analysis</a:t>
            </a:r>
            <a:br>
              <a:rPr lang="en-US" sz="4000" dirty="0">
                <a:latin typeface="+mn-lt"/>
              </a:rPr>
            </a:br>
            <a:endParaRPr lang="en-IN" sz="40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FAF55-55AD-AC20-3B8F-8951DC433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Shruti Sumadhur Ghosh</a:t>
            </a:r>
          </a:p>
          <a:p>
            <a:r>
              <a:rPr lang="en-US" b="1" dirty="0"/>
              <a:t>Tool Used:</a:t>
            </a:r>
            <a:r>
              <a:rPr lang="en-US" dirty="0"/>
              <a:t> Microsoft Excel</a:t>
            </a:r>
          </a:p>
          <a:p>
            <a:r>
              <a:rPr lang="en-US" b="1" dirty="0"/>
              <a:t>Date:</a:t>
            </a:r>
            <a:r>
              <a:rPr lang="en-US" dirty="0"/>
              <a:t> July 2025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9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1512-B83A-5C25-E033-C5BF4FBE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Analyze customer demographics and behaviors to identify target segments most likely to purchase bikes.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CF268-2733-C0F7-A01C-F9EABB2B7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Tools Used: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Excel (Pivot Tables, Charts, Slicers, Conditional Formatting)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Source: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Cleaned customer sales dataset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80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F1A4-9193-AC0A-CC73-00B1E37B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Cleaning Summary</a:t>
            </a:r>
            <a:br>
              <a:rPr lang="en-US" sz="28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5D2A-AA6E-3EB8-B3FA-F54239A0F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Removed 26 duplicate customer IDs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Standardized columns: Gender, Marital Status, Region, Commute Distance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Created helper columns: Cleaned Income, Age Group, Income Category, Purchase Binary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Total Records: 1000 Unique Customers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48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5668-DAEC-D879-6E57-E6765B66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Metrics</a:t>
            </a:r>
            <a:br>
              <a:rPr lang="en-IN" sz="28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772B9-940A-6DEF-24AD-CD62D4B15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0315" y="1926405"/>
            <a:ext cx="9720073" cy="40233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Total Purchases: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480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Overall Purchase Rate: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48%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Average Income of Purchasers: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Approx. </a:t>
            </a:r>
            <a:r>
              <a:rPr lang="en-US" sz="2800">
                <a:latin typeface="Cambria" panose="02040503050406030204" pitchFamily="18" charset="0"/>
                <a:ea typeface="Cambria" panose="02040503050406030204" pitchFamily="18" charset="0"/>
              </a:rPr>
              <a:t>Rs. 57,963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Top Segments: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Age: 30–45 yrs (54%)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Income: Mid category (53%)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Gender: Female (49%)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270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FEAC-8675-237F-D17F-6A89E788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b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Region-wise Purchases (Filtered to Purchasers Only)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Income Category vs Purchase Rate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4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B6A8D3B-9317-1E75-A1FE-CF37C3038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Summary Insight 1: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North America accounts for the highest number of bike purchasers (220), suggesting a strong potential for targeted marketing or product focus in that region.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49F5344-E2BB-EDBE-52BA-E3D4647DF70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1474343"/>
              </p:ext>
            </p:extLst>
          </p:nvPr>
        </p:nvGraphicFramePr>
        <p:xfrm>
          <a:off x="1023938" y="2967038"/>
          <a:ext cx="4754562" cy="334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A150D5-5D20-4E99-3A94-3451D7E8E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Summary insight 2: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Mid-income customers have the highest bike purchase rate (53%), slightly outperforming high-income buyers (49%). Low-income customers trail behind at 40%.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5475183-0ABD-308B-F7F0-DBC8DE12015C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264048873"/>
              </p:ext>
            </p:extLst>
          </p:nvPr>
        </p:nvGraphicFramePr>
        <p:xfrm>
          <a:off x="5991225" y="2967038"/>
          <a:ext cx="4754563" cy="334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733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11EF-2310-FE29-4962-F248F166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Gender and Marital Status Comparison</a:t>
            </a:r>
            <a:b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3CE5CA8-5A60-E1B9-1B77-460CD3855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Summary insight 3: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Although males make up a slightly larger portion of the customer base (511 vs. 489), females have a marginally higher bike purchase rate (49% vs. 47%)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D01139-0B9F-D094-135F-E62462B953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57599279"/>
              </p:ext>
            </p:extLst>
          </p:nvPr>
        </p:nvGraphicFramePr>
        <p:xfrm>
          <a:off x="1023938" y="2967038"/>
          <a:ext cx="4754562" cy="334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4E37AD-BDF5-AF48-E4DB-50F1DD8C6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Summary Insight 4: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Single customers are significantly more likely to purchase bikes (54%) compared to married customers (43%), despite a slightly smaller population size.		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60B2295-1002-03DE-3F11-556D5BBE61A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203157073"/>
              </p:ext>
            </p:extLst>
          </p:nvPr>
        </p:nvGraphicFramePr>
        <p:xfrm>
          <a:off x="5991225" y="2967038"/>
          <a:ext cx="4754563" cy="334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6548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F50C-86BD-E5B4-9669-91136FED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Education Level &amp; Occupation Purchase Rates</a:t>
            </a:r>
            <a:b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5E58E-3EA8-A265-E649-6AC99B095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Summary Insight 5: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Customers with an Intermediate education level show the highest bike purchase rate (55%), despite not being the largest group.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C6DC9-C9FC-FBD3-D9D6-C707FBF5F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Summary Insight 6: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Professionals have the highest bike purchase rate (54%) among all occupations, followed by Clerical workers (50%). 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1B53B9F-D667-17D5-9504-06558FF8A7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66353267"/>
              </p:ext>
            </p:extLst>
          </p:nvPr>
        </p:nvGraphicFramePr>
        <p:xfrm>
          <a:off x="1023938" y="2967038"/>
          <a:ext cx="4754562" cy="334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84C768E-7828-FA1E-30AC-691D398DA29C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478561026"/>
              </p:ext>
            </p:extLst>
          </p:nvPr>
        </p:nvGraphicFramePr>
        <p:xfrm>
          <a:off x="5991225" y="2967038"/>
          <a:ext cx="4754563" cy="334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7431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6C96-7298-0422-B0E3-1C13C786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Commute Distance &amp; Car Ownership Influence</a:t>
            </a:r>
            <a:b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73755-2DAB-C0AE-56FE-1475748F6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Summary Insight 7: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Customers with commute distances of 2–5 miles show the highest bike purchase rate (59%), suggesting this range is the sweet spot where biking is both feasible and efficient.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757F0-69F2-6EB2-AAF8-DC2D759A8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Summary Insight 8: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Customers with fewer or no cars are more likely to purchase bikes. Those with 0 cars have the highest purchase rate at 61%, followed by those with 1 car (57%).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C2912C6-D1CD-81F4-CA48-A46E34320F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24386267"/>
              </p:ext>
            </p:extLst>
          </p:nvPr>
        </p:nvGraphicFramePr>
        <p:xfrm>
          <a:off x="1023938" y="2967038"/>
          <a:ext cx="4754562" cy="334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B9A4642-050F-3E08-4077-A48E5B1E67D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21288585"/>
              </p:ext>
            </p:extLst>
          </p:nvPr>
        </p:nvGraphicFramePr>
        <p:xfrm>
          <a:off x="5991225" y="2967038"/>
          <a:ext cx="4754563" cy="334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1951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DC36-9D67-6665-7B5A-1352DA90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 Customer Segments</a:t>
            </a:r>
            <a:br>
              <a:rPr lang="en-US" sz="28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47322C-451E-4A78-559F-4951554D7E81}"/>
              </a:ext>
            </a:extLst>
          </p:cNvPr>
          <p:cNvSpPr txBox="1"/>
          <p:nvPr/>
        </p:nvSpPr>
        <p:spPr>
          <a:xfrm>
            <a:off x="3161872" y="2084832"/>
            <a:ext cx="63314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Age Group: 30–45 yrs (54%)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Income: Mid-level earners (53%)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Gender: Female (49%)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Commute Distance: 2–5 miles (59%)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Occupation: Professional &amp; Clerical (&gt;50%)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Car Ownership: Households with 0–1 car (61%, 57%)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27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710E2-4476-DB76-2C34-3A56F55E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Business Insights</a:t>
            </a:r>
            <a:b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44E44-4990-BCDB-D681-51773532091A}"/>
              </a:ext>
            </a:extLst>
          </p:cNvPr>
          <p:cNvSpPr txBox="1"/>
          <p:nvPr/>
        </p:nvSpPr>
        <p:spPr>
          <a:xfrm>
            <a:off x="3047144" y="1778504"/>
            <a:ext cx="60977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Highest bike purchases came from North America (West Region)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Mid-income customers are more likely to buy bikes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Female and single customers have higher purchase tendencies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Professionals and customers with short commutes are good targets</a:t>
            </a:r>
          </a:p>
        </p:txBody>
      </p:sp>
    </p:spTree>
    <p:extLst>
      <p:ext uri="{BB962C8B-B14F-4D97-AF65-F5344CB8AC3E}">
        <p14:creationId xmlns:p14="http://schemas.microsoft.com/office/powerpoint/2010/main" val="381288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39FD-B0CF-E222-9C00-CCC0C99916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35868" y="770723"/>
            <a:ext cx="9720263" cy="14986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 &amp; Recommendations</a:t>
            </a:r>
            <a:br>
              <a:rPr lang="en-IN" sz="28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B7EEE4-25BA-A1F2-0958-681B5F26EFAF}"/>
              </a:ext>
            </a:extLst>
          </p:cNvPr>
          <p:cNvSpPr txBox="1"/>
          <p:nvPr/>
        </p:nvSpPr>
        <p:spPr>
          <a:xfrm>
            <a:off x="3172146" y="1595021"/>
            <a:ext cx="609771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Focus marketing on: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Mid-income, female customers aged 30–45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Customers in North America &amp; Europe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Professionals with shorter commute distances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Households with no or one car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Next Steps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Deploy targeted marketing campaigns, optimize inventory, and improve regional outreach.</a:t>
            </a:r>
          </a:p>
          <a:p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649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903F19-1849-3BF6-8651-2C7AB0709471}"/>
              </a:ext>
            </a:extLst>
          </p:cNvPr>
          <p:cNvSpPr txBox="1"/>
          <p:nvPr/>
        </p:nvSpPr>
        <p:spPr>
          <a:xfrm>
            <a:off x="3747498" y="2198938"/>
            <a:ext cx="60977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Prepared by Shruti Sumadhur Ghosh</a:t>
            </a:r>
          </a:p>
        </p:txBody>
      </p:sp>
    </p:spTree>
    <p:extLst>
      <p:ext uri="{BB962C8B-B14F-4D97-AF65-F5344CB8AC3E}">
        <p14:creationId xmlns:p14="http://schemas.microsoft.com/office/powerpoint/2010/main" val="1306647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1902</TotalTime>
  <Words>689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Cambria</vt:lpstr>
      <vt:lpstr>Tw Cen MT</vt:lpstr>
      <vt:lpstr>Tw Cen MT Condensed</vt:lpstr>
      <vt:lpstr>Wingdings</vt:lpstr>
      <vt:lpstr>Wingdings 3</vt:lpstr>
      <vt:lpstr>Integral</vt:lpstr>
      <vt:lpstr>Project Title: Bike Dekho - Bike Sales Analysis </vt:lpstr>
      <vt:lpstr>Objective: Analyze customer demographics and behaviors to identify target segments most likely to purchase bikes. </vt:lpstr>
      <vt:lpstr>Data Cleaning Summary </vt:lpstr>
      <vt:lpstr>Key Metrics </vt:lpstr>
      <vt:lpstr> Region-wise Purchases (Filtered to Purchasers Only) Income Category vs Purchase Rate </vt:lpstr>
      <vt:lpstr>Gender and Marital Status Comparison </vt:lpstr>
      <vt:lpstr>Education Level &amp; Occupation Purchase Rates </vt:lpstr>
      <vt:lpstr>Commute Distance &amp; Car Ownership Influence </vt:lpstr>
      <vt:lpstr>Top Customer Segments </vt:lpstr>
      <vt:lpstr>Key Business Insights </vt:lpstr>
      <vt:lpstr>Conclusion &amp; Recommendations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Shruthi Sumadhur Ghosh</dc:creator>
  <cp:lastModifiedBy>Shruthi Sumadhur Ghosh</cp:lastModifiedBy>
  <cp:revision>12</cp:revision>
  <dcterms:created xsi:type="dcterms:W3CDTF">2025-07-18T09:16:43Z</dcterms:created>
  <dcterms:modified xsi:type="dcterms:W3CDTF">2025-07-19T17:16:28Z</dcterms:modified>
</cp:coreProperties>
</file>